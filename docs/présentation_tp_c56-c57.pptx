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4" r:id="rId9"/>
    <p:sldId id="268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BCE26B-F2C1-AEF5-1769-4DA883217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B3451D6-FDAD-D547-C045-E7CF5BFED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72B94C-8876-603A-1010-24D6172E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501DB4-5255-1104-DFFB-39FB4380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74CD45-5887-0DE6-D454-A0FD078D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2568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40C7F-5D07-38E2-F29C-6D5B1CB0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7AC2C0-5867-9B2B-E87A-222856DF5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66B259-6874-5C92-5F74-5B4EF8EE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F80DF4-E15F-9BB3-5F33-D428DBBB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2054E6-B9AE-47D5-C5F2-58865855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447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4D3245-0355-2159-0F87-ECD0226D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15ED43-6B1B-ADF2-EAA5-1E75175B9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5C6A13-44D0-FC7E-4C10-E2E689D8E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598068-9427-FB87-E54D-D93DDC94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631CE2-D2DA-1C01-CA57-7B030AD0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2107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42551E-6312-9D2C-D111-379499E95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FFB460-36B1-A04C-2EEF-2B1F25D5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704B92-0987-5BCC-F49F-B79B3B85C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EB2A0C-11D9-A454-F3D4-AF4EF4467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40425A6-7ABE-BE35-760B-5C973E44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C6E104-326F-1FAB-B802-69373FB7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1913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D34036-1DC5-0F7A-AF6A-D0E9F555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4789F5-E702-8683-7BA7-4D5BC4E24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7FFC53-1882-332E-8769-6255F1CE6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B3FC503-5D3B-4D3F-5FC2-1AF65414E7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08A3767-D6B2-1CD9-560C-05799EBD7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D4FDC1-EA83-E56F-2255-B7C0A92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07DF033-F79E-D5D1-E1B5-45703786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764966F-3A2D-7B0D-343F-55DB101E7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6074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ABAAEF-551E-74C6-DE2E-8627BC98F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70117A5-EACE-9FAF-7AAB-79ABA929D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24E9134-D9C7-346B-C607-AF9E23BD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2B6C4-029B-A2DC-2793-5A4CCB7EB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35850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163A0FB-4518-4E31-41EF-7F840506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921FAD-C271-5A2C-6CD1-93170D17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803A96-D11E-8129-9659-DDE871E2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3089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F40910-E9B3-1134-44C6-4694E9951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15C356-B90B-D0D5-06C2-93EF97B63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337D3B-A742-E8FE-91C3-BB73E4C50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5411D6-DA08-B9D0-13CE-88B0D1557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3A2F7E-703C-AFDA-F5E4-274BF69FC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A6050E-7147-2F4C-712B-E3D6AEA7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103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0A269-17CA-4F78-8B3E-57A2DA197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8AA09B4-8EFB-EBA7-5915-8762B2902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5F82D7-8B07-3C5F-4EB3-A76237BBF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61C5E0-9261-0E16-D7EB-AF5BC9C3F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8CB18C-AA2F-4FD6-8129-1901A676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A36852-F5CE-1292-A062-6F6C91D7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2092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AD0E1B-84F3-86DE-45D9-44A78A371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7238D9-683D-1CE0-0D7D-670BA89C4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3432D8-B405-4C1F-37D3-7CD02226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6B739E-0B66-FF52-C6A5-E133185CA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F78D0E-41DB-A365-2CD0-8DF81021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39287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1F38320-7E56-4E92-6059-235E30839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A698A7-67D0-3ED0-BDF0-A0546B03C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F3872A-79D7-73C5-CA2B-F301542C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73F6FE-3A73-AA89-6521-EC25E075B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A6D744-AB48-2A91-870F-65A9E36F3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5532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7C49DC3-B2F5-5749-CB01-1C64422A1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3BADF6-5C1E-CBD8-ECF3-E932B3040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03573A-AD94-568B-94AD-9D6253E5A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94F65-504D-436F-BCD0-AE3239EDCFD1}" type="datetimeFigureOut">
              <a:rPr lang="fr-CA" smtClean="0"/>
              <a:t>2026-10-02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52F210-6167-392A-63B3-3C012FBBE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544856-9E5A-7869-30AF-F596C1D90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25FA8-60AE-4492-81B1-FC401CBCF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390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t-c56-c57-web-app-infos-sinistre.onrender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1"/>
          </a:p>
        </p:txBody>
      </p:sp>
      <p:pic>
        <p:nvPicPr>
          <p:cNvPr id="5" name="Vidéo 4" descr="Fumée sur lumière centrée">
            <a:extLst>
              <a:ext uri="{FF2B5EF4-FFF2-40B4-BE49-F238E27FC236}">
                <a16:creationId xmlns:a16="http://schemas.microsoft.com/office/drawing/2014/main" id="{5B0D5845-6154-367B-CF01-F0FE318398F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1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9F46E9D-E4BC-A43C-DB5B-6EF5C0AFF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fr-CA" sz="5200" noProof="1">
                <a:solidFill>
                  <a:srgbClr val="FFFFFF"/>
                </a:solidFill>
              </a:rPr>
              <a:t>Solution: </a:t>
            </a:r>
            <a:br>
              <a:rPr lang="fr-CA" sz="5200" noProof="1">
                <a:solidFill>
                  <a:srgbClr val="FFFFFF"/>
                </a:solidFill>
              </a:rPr>
            </a:br>
            <a:r>
              <a:rPr lang="fr-CA" sz="5200" b="1" noProof="1">
                <a:solidFill>
                  <a:srgbClr val="FFFFFF"/>
                </a:solidFill>
              </a:rPr>
              <a:t>Info-Sinistre-Auto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83C7EA3-3577-9F43-C852-4B4D957C7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fr-CA" sz="2200" noProof="1">
                <a:solidFill>
                  <a:srgbClr val="FFFFFF"/>
                </a:solidFill>
              </a:rPr>
              <a:t>Par:</a:t>
            </a:r>
          </a:p>
          <a:p>
            <a:r>
              <a:rPr lang="fr-CA" sz="2200" b="1" noProof="1">
                <a:solidFill>
                  <a:srgbClr val="FFFFFF"/>
                </a:solidFill>
              </a:rPr>
              <a:t>Anas Guerrouaz</a:t>
            </a:r>
          </a:p>
          <a:p>
            <a:r>
              <a:rPr lang="fr-CA" sz="2200" b="1" noProof="1">
                <a:solidFill>
                  <a:srgbClr val="FFFFFF"/>
                </a:solidFill>
              </a:rPr>
              <a:t>Étienne Desautels</a:t>
            </a:r>
          </a:p>
        </p:txBody>
      </p:sp>
    </p:spTree>
    <p:extLst>
      <p:ext uri="{BB962C8B-B14F-4D97-AF65-F5344CB8AC3E}">
        <p14:creationId xmlns:p14="http://schemas.microsoft.com/office/powerpoint/2010/main" val="260630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9828A-B7FC-0D4C-70CC-5D9F7E71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1"/>
              <a:t>Besoin d’affaires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13E810-469C-79E9-078F-591D11015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000" b="1" noProof="1"/>
              <a:t>Domaine</a:t>
            </a:r>
            <a:r>
              <a:rPr lang="fr-CA" sz="2000" noProof="1"/>
              <a:t> : Les assurances dommage</a:t>
            </a:r>
          </a:p>
          <a:p>
            <a:r>
              <a:rPr lang="fr-CA" sz="2000" b="1" noProof="1"/>
              <a:t>Thème</a:t>
            </a:r>
            <a:r>
              <a:rPr lang="fr-CA" sz="2000" noProof="1"/>
              <a:t> : Réclamation à la suite d'un sinistre automobile</a:t>
            </a:r>
          </a:p>
          <a:p>
            <a:r>
              <a:rPr lang="fr-CA" sz="2000" b="1" noProof="1"/>
              <a:t>Contexte</a:t>
            </a:r>
            <a:r>
              <a:rPr lang="fr-CA" sz="2000" noProof="1"/>
              <a:t> : Vérification des circonstances du sinistre</a:t>
            </a:r>
          </a:p>
          <a:p>
            <a:pPr lvl="1"/>
            <a:r>
              <a:rPr lang="fr-CA" sz="1800" noProof="1"/>
              <a:t>Informations cartographiques</a:t>
            </a:r>
          </a:p>
          <a:p>
            <a:pPr lvl="1"/>
            <a:r>
              <a:rPr lang="fr-CA" sz="1800" noProof="1"/>
              <a:t>Informations météorologiques</a:t>
            </a:r>
          </a:p>
          <a:p>
            <a:pPr lvl="1"/>
            <a:r>
              <a:rPr lang="fr-CA" sz="1800" noProof="1"/>
              <a:t>Zones de dégel</a:t>
            </a:r>
          </a:p>
          <a:p>
            <a:r>
              <a:rPr lang="fr-CA" sz="2000" b="1" noProof="1"/>
              <a:t>Utilisateur</a:t>
            </a:r>
            <a:r>
              <a:rPr lang="fr-CA" sz="2000" noProof="1"/>
              <a:t> : L’évaluateur de la réclamation travaillant à la compagnie d’assurance.</a:t>
            </a:r>
          </a:p>
          <a:p>
            <a:r>
              <a:rPr lang="fr-CA" sz="2000" b="1" noProof="1"/>
              <a:t>Pain point </a:t>
            </a:r>
            <a:r>
              <a:rPr lang="fr-CA" sz="2000" noProof="1"/>
              <a:t>: L’information entourant les circonstances du sinistre sont éparpillées parmi plusieurs sources, ce qui entraîne des délais de traitement lors de l’évaluation de la réclamation.</a:t>
            </a:r>
          </a:p>
          <a:p>
            <a:r>
              <a:rPr lang="fr-CA" sz="2000" b="1" noProof="1"/>
              <a:t>Solution</a:t>
            </a:r>
            <a:r>
              <a:rPr lang="fr-CA" sz="2000" noProof="1"/>
              <a:t> : Accélérer la recherche en automatisant la collecte, en centralisant l’information et en la gardant en mémoire.</a:t>
            </a:r>
          </a:p>
        </p:txBody>
      </p:sp>
    </p:spTree>
    <p:extLst>
      <p:ext uri="{BB962C8B-B14F-4D97-AF65-F5344CB8AC3E}">
        <p14:creationId xmlns:p14="http://schemas.microsoft.com/office/powerpoint/2010/main" val="3867543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A0C87-5063-F034-1DDB-006B3DB52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9FE53E-D088-5F3C-96C6-1EFED97D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1"/>
              <a:t>Implémentation : données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3BAA4E5F-527A-E682-9E4A-504B84723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855362"/>
              </p:ext>
            </p:extLst>
          </p:nvPr>
        </p:nvGraphicFramePr>
        <p:xfrm>
          <a:off x="838200" y="1690689"/>
          <a:ext cx="10515600" cy="3868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79136">
                  <a:extLst>
                    <a:ext uri="{9D8B030D-6E8A-4147-A177-3AD203B41FA5}">
                      <a16:colId xmlns:a16="http://schemas.microsoft.com/office/drawing/2014/main" val="2060926980"/>
                    </a:ext>
                  </a:extLst>
                </a:gridCol>
                <a:gridCol w="5236464">
                  <a:extLst>
                    <a:ext uri="{9D8B030D-6E8A-4147-A177-3AD203B41FA5}">
                      <a16:colId xmlns:a16="http://schemas.microsoft.com/office/drawing/2014/main" val="919347362"/>
                    </a:ext>
                  </a:extLst>
                </a:gridCol>
              </a:tblGrid>
              <a:tr h="3868864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CA" noProof="1"/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endParaRPr lang="fr-CA" sz="800" noProof="1"/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endParaRPr lang="fr-CA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2000" b="1" noProof="1"/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endParaRPr lang="fr-CA" sz="800" b="1" noProof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endParaRPr lang="fr-CA" sz="1200" b="1" noProof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95998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4BEF5A7C-3829-EE80-9BFD-A6A7F8BC0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5" y="1807315"/>
            <a:ext cx="4442845" cy="344453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AC74BE9-512B-5D52-06B3-FAA9BD7EC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077" y="2436019"/>
            <a:ext cx="5265876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37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B7632-57FD-F10D-DD9E-BD9506900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692" y="4633087"/>
            <a:ext cx="3304032" cy="1325563"/>
          </a:xfrm>
        </p:spPr>
        <p:txBody>
          <a:bodyPr/>
          <a:lstStyle/>
          <a:p>
            <a:r>
              <a:rPr lang="fr-CA" noProof="1"/>
              <a:t>Architecture de la solution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DFC9763-3B11-E15F-1AAF-DE0213E9F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70884"/>
            <a:ext cx="8112633" cy="635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10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D0F9A-1763-0BA2-339F-40D73322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E5EBA-6B98-2CE8-533F-AF4E3894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1"/>
              <a:t>Implémentation : Stack technique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DE3C3F68-0AE2-277A-E775-1EAC4C51A894}"/>
              </a:ext>
            </a:extLst>
          </p:cNvPr>
          <p:cNvSpPr txBox="1">
            <a:spLocks/>
          </p:cNvSpPr>
          <p:nvPr/>
        </p:nvSpPr>
        <p:spPr>
          <a:xfrm>
            <a:off x="6202680" y="1587880"/>
            <a:ext cx="5032248" cy="4520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CA" sz="2000" noProof="1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49C7CEE-3FDC-0B47-5483-B14CED338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193967"/>
              </p:ext>
            </p:extLst>
          </p:nvPr>
        </p:nvGraphicFramePr>
        <p:xfrm>
          <a:off x="838200" y="1587880"/>
          <a:ext cx="10515600" cy="45203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02680">
                  <a:extLst>
                    <a:ext uri="{9D8B030D-6E8A-4147-A177-3AD203B41FA5}">
                      <a16:colId xmlns:a16="http://schemas.microsoft.com/office/drawing/2014/main" val="2060926980"/>
                    </a:ext>
                  </a:extLst>
                </a:gridCol>
                <a:gridCol w="4312920">
                  <a:extLst>
                    <a:ext uri="{9D8B030D-6E8A-4147-A177-3AD203B41FA5}">
                      <a16:colId xmlns:a16="http://schemas.microsoft.com/office/drawing/2014/main" val="919347362"/>
                    </a:ext>
                  </a:extLst>
                </a:gridCol>
              </a:tblGrid>
              <a:tr h="4520311">
                <a:tc>
                  <a:txBody>
                    <a:bodyPr/>
                    <a:lstStyle/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fr-CA" sz="1800" noProof="1"/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fr-CA" sz="2400" b="1" noProof="1"/>
                        <a:t>Service web (microservices) </a:t>
                      </a:r>
                      <a:r>
                        <a:rPr lang="fr-CA" sz="2400" noProof="1"/>
                        <a:t>: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2000" u="sng" noProof="1"/>
                        <a:t>Service Data</a:t>
                      </a:r>
                    </a:p>
                    <a:p>
                      <a:pPr marL="1143000" lvl="2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800" noProof="1"/>
                        <a:t>API REST</a:t>
                      </a:r>
                    </a:p>
                    <a:p>
                      <a:pPr marL="1143000" lvl="2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800" noProof="1"/>
                        <a:t>Python / Flask</a:t>
                      </a:r>
                    </a:p>
                    <a:p>
                      <a:pPr marL="1143000" lvl="2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800" noProof="1"/>
                        <a:t>Documentation Swagger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2000" u="sng" noProof="1"/>
                        <a:t>Service Collecte </a:t>
                      </a:r>
                      <a:r>
                        <a:rPr lang="fr-CA" sz="2000" noProof="1"/>
                        <a:t>(API publiques) :</a:t>
                      </a:r>
                    </a:p>
                    <a:p>
                      <a:pPr marL="1143000" lvl="2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800" noProof="1"/>
                        <a:t>Données météorologiques : open-meteo.com</a:t>
                      </a:r>
                    </a:p>
                    <a:p>
                      <a:pPr marL="1143000" lvl="2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800" noProof="1"/>
                        <a:t>Zone de dégel : we.mapserver.transports.gouv.qc.ca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2000" u="sng" noProof="1"/>
                        <a:t>Service DAO + DB </a:t>
                      </a:r>
                      <a:r>
                        <a:rPr lang="fr-CA" sz="2000" noProof="1"/>
                        <a:t>:</a:t>
                      </a:r>
                    </a:p>
                    <a:p>
                      <a:pPr marL="1143000" lvl="2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800" noProof="1"/>
                        <a:t>Connexion à MongoDB avec pymongo</a:t>
                      </a:r>
                      <a:endParaRPr lang="fr-CA" sz="2000" u="sng" noProof="1"/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2000" u="sng" noProof="1"/>
                        <a:t>Service authentification</a:t>
                      </a:r>
                    </a:p>
                    <a:p>
                      <a:pPr marL="1143000" lvl="2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800" noProof="1"/>
                        <a:t>Token 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2000" b="1" noProof="1"/>
                    </a:p>
                    <a:p>
                      <a:r>
                        <a:rPr lang="fr-CA" sz="2400" b="1" noProof="1"/>
                        <a:t>Application client </a:t>
                      </a:r>
                      <a:r>
                        <a:rPr lang="fr-CA" sz="2400" noProof="1"/>
                        <a:t>: 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2000" noProof="1"/>
                        <a:t>Côté serveur, Python, Flask, wtforms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2000" noProof="1"/>
                        <a:t>Données cartographiques : API google.com/maps</a:t>
                      </a:r>
                    </a:p>
                    <a:p>
                      <a:endParaRPr lang="fr-CA" sz="2400" b="1" noProof="1"/>
                    </a:p>
                    <a:p>
                      <a:r>
                        <a:rPr lang="fr-CA" sz="2400" b="1" noProof="1"/>
                        <a:t>Environnements 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sz="2000" noProof="1"/>
                        <a:t>Pycharm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sz="2000" noProof="1"/>
                        <a:t>GitHub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fr-CA" sz="2000" noProof="1"/>
                        <a:t>Render</a:t>
                      </a:r>
                      <a:endParaRPr lang="fr-CA" sz="1800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95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980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F2CB8-68BC-BAEF-E162-65F53147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6E0EB3-3D5D-47DE-4B31-714A13E58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1"/>
              <a:t>Implémentation : Survol du code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5AF2146-E1F1-2AD6-6713-CB2F321B2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888230"/>
              </p:ext>
            </p:extLst>
          </p:nvPr>
        </p:nvGraphicFramePr>
        <p:xfrm>
          <a:off x="838200" y="1690689"/>
          <a:ext cx="10515600" cy="3868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79136">
                  <a:extLst>
                    <a:ext uri="{9D8B030D-6E8A-4147-A177-3AD203B41FA5}">
                      <a16:colId xmlns:a16="http://schemas.microsoft.com/office/drawing/2014/main" val="2060926980"/>
                    </a:ext>
                  </a:extLst>
                </a:gridCol>
                <a:gridCol w="5236464">
                  <a:extLst>
                    <a:ext uri="{9D8B030D-6E8A-4147-A177-3AD203B41FA5}">
                      <a16:colId xmlns:a16="http://schemas.microsoft.com/office/drawing/2014/main" val="919347362"/>
                    </a:ext>
                  </a:extLst>
                </a:gridCol>
              </a:tblGrid>
              <a:tr h="3868864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CA" noProof="1"/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en-CA" noProof="1"/>
                        <a:t>S</a:t>
                      </a:r>
                      <a:r>
                        <a:rPr lang="fr-CA" noProof="1"/>
                        <a:t>ervice_Data</a:t>
                      </a: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endParaRPr lang="fr-CA" sz="800" noProof="1"/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'), 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/index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/apidocs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/data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methods=['</a:t>
                      </a:r>
                      <a:r>
                        <a:rPr lang="fr-CA" sz="1200" b="1" noProof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/data/reclamation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</a:t>
                      </a:r>
                    </a:p>
                    <a:p>
                      <a:pPr marL="457200" lvl="1" indent="0" algn="r">
                        <a:buFont typeface="Arial" panose="020B0604020202020204" pitchFamily="34" charset="0"/>
                        <a:buNone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methods=['</a:t>
                      </a:r>
                      <a:r>
                        <a:rPr lang="fr-CA" sz="1200" b="1" noProof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PATCH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/data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methods=['</a:t>
                      </a:r>
                      <a:r>
                        <a:rPr lang="fr-CA" sz="1200" b="1" noProof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POST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/data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methods=['</a:t>
                      </a:r>
                      <a:r>
                        <a:rPr lang="fr-CA" sz="1200" b="1" noProof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PUT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endParaRPr lang="fr-CA" sz="2000" b="1" noProof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noProof="1"/>
                        <a:t>Service_Collecte</a:t>
                      </a: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endParaRPr lang="fr-CA" sz="800" noProof="1"/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/collecte_data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methods=['</a:t>
                      </a:r>
                      <a:r>
                        <a:rPr lang="fr-CA" sz="1200" b="1" noProof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endParaRPr lang="fr-CA" sz="800" noProof="1"/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endParaRPr lang="fr-CA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2000" b="1" noProof="1"/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noProof="1"/>
                        <a:t>Service_DAO</a:t>
                      </a: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endParaRPr lang="fr-CA" sz="800" noProof="1"/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/dao/incidents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methods=['</a:t>
                      </a:r>
                      <a:r>
                        <a:rPr lang="fr-CA" sz="1200" b="1" noProof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/dao/incidents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methods=['</a:t>
                      </a:r>
                      <a:r>
                        <a:rPr lang="fr-CA" sz="1200" b="1" noProof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POST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/dao/incidents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methods=['</a:t>
                      </a:r>
                      <a:r>
                        <a:rPr lang="fr-CA" sz="1200" b="1" noProof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PUT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</a:t>
                      </a:r>
                      <a:r>
                        <a:rPr lang="en-US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</a:t>
                      </a:r>
                      <a:r>
                        <a:rPr lang="en-US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/dao/incidents/&lt;int:id_incident&gt;/</a:t>
                      </a:r>
                    </a:p>
                    <a:p>
                      <a:pPr marL="457200" lvl="1" indent="0" algn="r">
                        <a:buFont typeface="Arial" panose="020B0604020202020204" pitchFamily="34" charset="0"/>
                        <a:buNone/>
                      </a:pPr>
                      <a:r>
                        <a:rPr lang="en-US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reclamation</a:t>
                      </a:r>
                      <a:r>
                        <a:rPr lang="en-US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methods=['</a:t>
                      </a:r>
                      <a:r>
                        <a:rPr lang="en-US" sz="1200" b="1" noProof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PATCH</a:t>
                      </a:r>
                      <a:r>
                        <a:rPr lang="en-US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  <a:endParaRPr lang="fr-CA" sz="1200" b="1" noProof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endParaRPr lang="fr-CA" sz="2000" b="1" noProof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noProof="1"/>
                        <a:t>Service_Auth</a:t>
                      </a:r>
                    </a:p>
                    <a:p>
                      <a:pPr marL="228600" lvl="0" indent="-228600">
                        <a:buFont typeface="Arial" panose="020B0604020202020204" pitchFamily="34" charset="0"/>
                        <a:buChar char="•"/>
                      </a:pPr>
                      <a:endParaRPr lang="fr-CA" sz="800" noProof="1"/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'), 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/index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/apidocs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@app.route('</a:t>
                      </a:r>
                      <a:r>
                        <a:rPr lang="fr-CA" sz="1200" b="1" noProof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/auth/login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methods=['</a:t>
                      </a:r>
                      <a:r>
                        <a:rPr lang="fr-CA" sz="1200" b="1" noProof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POST</a:t>
                      </a:r>
                      <a:r>
                        <a:rPr lang="fr-CA" sz="1200" b="1" noProof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'])</a:t>
                      </a: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endParaRPr lang="fr-CA" sz="800" b="1" noProof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685800" lvl="1" indent="-228600">
                        <a:buFont typeface="Arial" panose="020B0604020202020204" pitchFamily="34" charset="0"/>
                        <a:buChar char="•"/>
                      </a:pPr>
                      <a:endParaRPr lang="fr-CA" sz="1200" b="1" noProof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95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3324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C1806-C6B3-1626-5050-855F8B2F7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98D955-7EF9-4CFA-B7D5-700F3EA8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1"/>
              <a:t>Résultats obtenus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A9A24C-E765-B135-BA46-5E3B71592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noProof="1"/>
              <a:t>Démonstration en live</a:t>
            </a:r>
          </a:p>
          <a:p>
            <a:pPr lvl="1"/>
            <a:r>
              <a:rPr lang="fr-CA" noProof="1">
                <a:hlinkClick r:id="rId2"/>
              </a:rPr>
              <a:t>https://projet-c56-c57-web-app-infos-sinistre.onrender.com/</a:t>
            </a:r>
            <a:endParaRPr lang="fr-CA" noProof="1"/>
          </a:p>
          <a:p>
            <a:pPr lvl="1"/>
            <a:r>
              <a:rPr lang="fr-CA" noProof="1"/>
              <a:t>Base de données sur mongoDB</a:t>
            </a:r>
          </a:p>
          <a:p>
            <a:pPr lvl="1"/>
            <a:r>
              <a:rPr lang="fr-CA" noProof="1"/>
              <a:t>Documentation Swagger</a:t>
            </a:r>
          </a:p>
        </p:txBody>
      </p:sp>
    </p:spTree>
    <p:extLst>
      <p:ext uri="{BB962C8B-B14F-4D97-AF65-F5344CB8AC3E}">
        <p14:creationId xmlns:p14="http://schemas.microsoft.com/office/powerpoint/2010/main" val="348077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A9C6F-DB2C-3A2E-8A4D-4B9A3FA44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1AC7C7-4E87-2D44-9E22-CE38F65A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1"/>
              <a:t>Difficultés rencontrées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79689BF-668C-4ADD-A1BF-0B1374746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562782"/>
              </p:ext>
            </p:extLst>
          </p:nvPr>
        </p:nvGraphicFramePr>
        <p:xfrm>
          <a:off x="1014984" y="1690688"/>
          <a:ext cx="9930384" cy="436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1848">
                  <a:extLst>
                    <a:ext uri="{9D8B030D-6E8A-4147-A177-3AD203B41FA5}">
                      <a16:colId xmlns:a16="http://schemas.microsoft.com/office/drawing/2014/main" val="2060926980"/>
                    </a:ext>
                  </a:extLst>
                </a:gridCol>
                <a:gridCol w="4288536">
                  <a:extLst>
                    <a:ext uri="{9D8B030D-6E8A-4147-A177-3AD203B41FA5}">
                      <a16:colId xmlns:a16="http://schemas.microsoft.com/office/drawing/2014/main" val="919347362"/>
                    </a:ext>
                  </a:extLst>
                </a:gridCol>
              </a:tblGrid>
              <a:tr h="376775">
                <a:tc>
                  <a:txBody>
                    <a:bodyPr/>
                    <a:lstStyle/>
                    <a:p>
                      <a:pPr algn="ctr"/>
                      <a:r>
                        <a:rPr lang="fr-CA" b="1" noProof="1"/>
                        <a:t>Problèmes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noProof="1"/>
                        <a:t>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558617"/>
                  </a:ext>
                </a:extLst>
              </a:tr>
              <a:tr h="1105804">
                <a:tc>
                  <a:txBody>
                    <a:bodyPr/>
                    <a:lstStyle/>
                    <a:p>
                      <a:r>
                        <a:rPr lang="fr-CA" sz="1400" b="1" noProof="1"/>
                        <a:t>Rapports d’incidents de police non disponibles publiquement :</a:t>
                      </a:r>
                      <a:endParaRPr lang="fr-CA" sz="1400" noProof="1"/>
                    </a:p>
                    <a:p>
                      <a:pPr lvl="1"/>
                      <a:r>
                        <a:rPr lang="fr-CA" sz="1400" noProof="1"/>
                        <a:t>Elles ne sont disponibles que pour les organisations enregistrées auprès de l’AMT, dans le but de protéger les informations confidentielles.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noProof="1"/>
                        <a:t>Cette source de données a été abandonnée. Mais en contexte réel, nous aurions eu accès aux données.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95998"/>
                  </a:ext>
                </a:extLst>
              </a:tr>
              <a:tr h="1513206">
                <a:tc>
                  <a:txBody>
                    <a:bodyPr/>
                    <a:lstStyle/>
                    <a:p>
                      <a:r>
                        <a:rPr lang="fr-CA" sz="1400" b="1" noProof="1"/>
                        <a:t>L’architecture des flux de données manque de precision </a:t>
                      </a:r>
                      <a:r>
                        <a:rPr lang="fr-CA" sz="1400" noProof="1"/>
                        <a:t>: </a:t>
                      </a:r>
                    </a:p>
                    <a:p>
                      <a:pPr lvl="1"/>
                      <a:r>
                        <a:rPr lang="fr-CA" sz="1400" noProof="1"/>
                        <a:t>Quelles sont précisément les données provenant de l’utilisateur?</a:t>
                      </a:r>
                    </a:p>
                    <a:p>
                      <a:pPr lvl="1"/>
                      <a:r>
                        <a:rPr lang="fr-CA" sz="1400" noProof="1"/>
                        <a:t>Quelles sont précisément les données à collecter?</a:t>
                      </a:r>
                    </a:p>
                    <a:p>
                      <a:pPr lvl="1"/>
                      <a:r>
                        <a:rPr lang="fr-CA" sz="1400" noProof="1"/>
                        <a:t>Quelles sont précisément les données à stocker?</a:t>
                      </a:r>
                    </a:p>
                    <a:p>
                      <a:pPr lvl="1"/>
                      <a:r>
                        <a:rPr lang="fr-CA" sz="1400" noProof="1"/>
                        <a:t>Quelles sont précisément les données à retourner?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noProof="1"/>
                        <a:t>Discussions de precision des flux de données,et  prise de decisions d’architecture par les développeurs.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5298"/>
                  </a:ext>
                </a:extLst>
              </a:tr>
              <a:tr h="1193119">
                <a:tc>
                  <a:txBody>
                    <a:bodyPr/>
                    <a:lstStyle/>
                    <a:p>
                      <a:r>
                        <a:rPr lang="en-CA" sz="1400" b="1" noProof="1"/>
                        <a:t>La structure de la logique est confuse :</a:t>
                      </a:r>
                    </a:p>
                    <a:p>
                      <a:pPr lvl="1"/>
                      <a:r>
                        <a:rPr lang="fr-CA" sz="1400" b="0" noProof="1"/>
                        <a:t>Comment structurer la logique pour qu’il y ait séparation des responsabilités de chaque service, ainsi qu’une cohérence entre les services?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noProof="1"/>
                        <a:t>Remonter les choix importants à l’app web, plutôt que de laisser le service faire ces choix</a:t>
                      </a:r>
                    </a:p>
                    <a:p>
                      <a:r>
                        <a:rPr lang="en-CA" sz="1400" noProof="1"/>
                        <a:t>Distinguer les routes au niveau du service web</a:t>
                      </a:r>
                    </a:p>
                    <a:p>
                      <a:r>
                        <a:rPr lang="en-CA" sz="1400" noProof="1"/>
                        <a:t>Le service DAO gère uniquement les transactions de données entre le service et la base de données</a:t>
                      </a:r>
                    </a:p>
                    <a:p>
                      <a:endParaRPr lang="en-CA" sz="1400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604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985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1A07-A5A1-01B0-2C88-47683963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836E62-654A-45CD-0F42-E17A0741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1"/>
              <a:t>Difficultés rencontrées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3EB0A18-D096-2445-D952-851B9ACC1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460972"/>
              </p:ext>
            </p:extLst>
          </p:nvPr>
        </p:nvGraphicFramePr>
        <p:xfrm>
          <a:off x="1014984" y="1690689"/>
          <a:ext cx="9930384" cy="4271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0992">
                  <a:extLst>
                    <a:ext uri="{9D8B030D-6E8A-4147-A177-3AD203B41FA5}">
                      <a16:colId xmlns:a16="http://schemas.microsoft.com/office/drawing/2014/main" val="2060926980"/>
                    </a:ext>
                  </a:extLst>
                </a:gridCol>
                <a:gridCol w="4279392">
                  <a:extLst>
                    <a:ext uri="{9D8B030D-6E8A-4147-A177-3AD203B41FA5}">
                      <a16:colId xmlns:a16="http://schemas.microsoft.com/office/drawing/2014/main" val="919347362"/>
                    </a:ext>
                  </a:extLst>
                </a:gridCol>
              </a:tblGrid>
              <a:tr h="364533">
                <a:tc>
                  <a:txBody>
                    <a:bodyPr/>
                    <a:lstStyle/>
                    <a:p>
                      <a:pPr algn="ctr"/>
                      <a:r>
                        <a:rPr lang="fr-CA" b="1" noProof="1"/>
                        <a:t>Problèmes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noProof="1"/>
                        <a:t>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558617"/>
                  </a:ext>
                </a:extLst>
              </a:tr>
              <a:tr h="1069874">
                <a:tc>
                  <a:txBody>
                    <a:bodyPr/>
                    <a:lstStyle/>
                    <a:p>
                      <a:r>
                        <a:rPr lang="fr-CA" sz="1400" b="1" noProof="1"/>
                        <a:t>Confusion des fonctionnalités en ce qui concerne les méthodes HTTP </a:t>
                      </a:r>
                      <a:r>
                        <a:rPr lang="fr-CA" sz="1400" noProof="1"/>
                        <a:t>:</a:t>
                      </a:r>
                    </a:p>
                    <a:p>
                      <a:pPr lvl="1"/>
                      <a:r>
                        <a:rPr lang="fr-CA" sz="1400" noProof="1"/>
                        <a:t>GET + POST + PATCH dans une même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noProof="1"/>
                        <a:t>Séparer les méthodes selon la fonctionnalité, conformément aux principes REST.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95998"/>
                  </a:ext>
                </a:extLst>
              </a:tr>
              <a:tr h="1464039">
                <a:tc>
                  <a:txBody>
                    <a:bodyPr/>
                    <a:lstStyle/>
                    <a:p>
                      <a:r>
                        <a:rPr lang="en-CA" sz="1400" b="1" noProof="1"/>
                        <a:t>Implémentation sur MongoDB :</a:t>
                      </a:r>
                    </a:p>
                    <a:p>
                      <a:pPr lvl="1"/>
                      <a:r>
                        <a:rPr lang="en-CA" sz="1400" b="0" noProof="1"/>
                        <a:t>Comment coder les fonctions qui transigent avec MongoDB afin d’effectuer les différentes operations (CRUD)?</a:t>
                      </a:r>
                    </a:p>
                    <a:p>
                      <a:pPr lvl="1"/>
                      <a:endParaRPr lang="en-CA" sz="1400" b="0" noProof="1"/>
                    </a:p>
                    <a:p>
                      <a:pPr lvl="1"/>
                      <a:r>
                        <a:rPr lang="en-CA" sz="1400" b="0" noProof="1"/>
                        <a:t>L’identifiant (_id) ajouté par MongoDB causait des problèmes de schéma dans les transactions de données.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400" noProof="1"/>
                    </a:p>
                    <a:p>
                      <a:r>
                        <a:rPr lang="en-CA" sz="1400" noProof="1"/>
                        <a:t>Vérifier la documentation de pymongo pour savoir quelle function utiliser et comment les utiliser.</a:t>
                      </a:r>
                    </a:p>
                    <a:p>
                      <a:endParaRPr lang="en-CA" sz="1400" noProof="1"/>
                    </a:p>
                    <a:p>
                      <a:r>
                        <a:rPr lang="en-CA" sz="1400" noProof="1"/>
                        <a:t>Retirer l’identifiant (_id) pendant les operations.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55298"/>
                  </a:ext>
                </a:extLst>
              </a:tr>
              <a:tr h="1327034">
                <a:tc>
                  <a:txBody>
                    <a:bodyPr/>
                    <a:lstStyle/>
                    <a:p>
                      <a:r>
                        <a:rPr lang="en-CA" sz="1400" b="1" noProof="1"/>
                        <a:t>Déploiement du projet sur Render :</a:t>
                      </a:r>
                    </a:p>
                    <a:p>
                      <a:pPr lvl="1"/>
                      <a:r>
                        <a:rPr lang="fr-CA" sz="1400" noProof="1"/>
                        <a:t>Comment adapter le serveur flask pour l’environnement Render?</a:t>
                      </a:r>
                    </a:p>
                    <a:p>
                      <a:pPr lvl="1"/>
                      <a:endParaRPr lang="fr-CA" sz="1400" noProof="1"/>
                    </a:p>
                    <a:p>
                      <a:pPr lvl="1"/>
                      <a:endParaRPr lang="fr-CA" sz="1400" noProof="1"/>
                    </a:p>
                    <a:p>
                      <a:pPr lvl="1"/>
                      <a:r>
                        <a:rPr lang="fr-CA" sz="1400" noProof="1"/>
                        <a:t>Comment créer des service web indépendants qui se parlent par HTTP?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400" noProof="1"/>
                    </a:p>
                    <a:p>
                      <a:r>
                        <a:rPr lang="fr-CA" sz="1400" noProof="1"/>
                        <a:t>Ajout de la librairies </a:t>
                      </a:r>
                      <a:r>
                        <a:rPr lang="fr-CA" sz="1400" b="1" noProof="1"/>
                        <a:t>flask_cors </a:t>
                      </a:r>
                      <a:r>
                        <a:rPr lang="fr-CA" sz="1400" noProof="1"/>
                        <a:t>afin de permettre le trafic provenant de l’extérieur de Render.</a:t>
                      </a:r>
                    </a:p>
                    <a:p>
                      <a:endParaRPr lang="fr-CA" sz="1400" noProof="1"/>
                    </a:p>
                    <a:p>
                      <a:r>
                        <a:rPr lang="fr-CA" sz="1400" noProof="1"/>
                        <a:t>Définir des </a:t>
                      </a:r>
                      <a:r>
                        <a:rPr lang="fr-CA" sz="1400" b="1" noProof="1"/>
                        <a:t>variables d’environnement </a:t>
                      </a:r>
                      <a:r>
                        <a:rPr lang="fr-CA" sz="1400" noProof="1"/>
                        <a:t>dans les scripts, et les assigner sur Render.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604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488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D55F3-5D3D-E74D-75FB-EB58E9CB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C2633D-38F2-E0B7-5044-D51CC5FB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1"/>
              <a:t>Compétences acquises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ED134C8-EAB9-1779-30A2-EC9B1C6B3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789753"/>
              </p:ext>
            </p:extLst>
          </p:nvPr>
        </p:nvGraphicFramePr>
        <p:xfrm>
          <a:off x="1207008" y="1690689"/>
          <a:ext cx="9418320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>
                  <a:extLst>
                    <a:ext uri="{9D8B030D-6E8A-4147-A177-3AD203B41FA5}">
                      <a16:colId xmlns:a16="http://schemas.microsoft.com/office/drawing/2014/main" val="206092698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959339382"/>
                    </a:ext>
                  </a:extLst>
                </a:gridCol>
              </a:tblGrid>
              <a:tr h="432156">
                <a:tc gridSpan="2">
                  <a:txBody>
                    <a:bodyPr/>
                    <a:lstStyle/>
                    <a:p>
                      <a:pPr algn="ctr"/>
                      <a:r>
                        <a:rPr lang="fr-CA" sz="2400" b="1" noProof="1"/>
                        <a:t>Apprentissages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CA" sz="2400" b="1" noProof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558617"/>
                  </a:ext>
                </a:extLst>
              </a:tr>
              <a:tr h="686751">
                <a:tc>
                  <a:txBody>
                    <a:bodyPr/>
                    <a:lstStyle/>
                    <a:p>
                      <a:r>
                        <a:rPr lang="fr-CA" sz="1600" b="0" noProof="1"/>
                        <a:t>Compréhension du concept de pipeline dans un projet de collecte et d’intégration de données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="0" noProof="1"/>
                        <a:t>Traduction d’un besoin métier en solution à l’intérieur d’un projet d’intégration et de service web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823095998"/>
                  </a:ext>
                </a:extLst>
              </a:tr>
              <a:tr h="720279">
                <a:tc>
                  <a:txBody>
                    <a:bodyPr/>
                    <a:lstStyle/>
                    <a:p>
                      <a:r>
                        <a:rPr lang="fr-CA" sz="1600" b="0" noProof="1"/>
                        <a:t>Concevoir une architecture de solution de données et préciser les flux de données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="0" noProof="1"/>
                        <a:t>Structurer les routes d’un service web de façon conforme aux principes REST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259555298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fr-CA" sz="1600" b="0" noProof="1"/>
                        <a:t>Exploration de sources de données externe et utilisation d’API publiques pour la collecte de données</a:t>
                      </a: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="0" noProof="1"/>
                        <a:t>Travail collaboratif sur GitHub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660685914"/>
                  </a:ext>
                </a:extLst>
              </a:tr>
              <a:tr h="570927">
                <a:tc>
                  <a:txBody>
                    <a:bodyPr/>
                    <a:lstStyle/>
                    <a:p>
                      <a:r>
                        <a:rPr lang="en-CA" sz="1600" b="0" noProof="1"/>
                        <a:t>Développement d’un API, incluant un service principal, un service DAO et un service d’integration</a:t>
                      </a:r>
                      <a:endParaRPr lang="fr-CA" sz="1600" b="0" noProof="1"/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r>
                        <a:rPr lang="fr-CA" sz="1600" b="0" noProof="1"/>
                        <a:t>Expérience de déboggage</a:t>
                      </a: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959604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3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00FE-29BE-2224-8E1E-812314A6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33EB73-219F-0E68-4C78-0942A43C9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1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FEB8B6-430B-588B-5F0A-B094F94AE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80231"/>
          </a:xfrm>
        </p:spPr>
        <p:txBody>
          <a:bodyPr>
            <a:normAutofit/>
          </a:bodyPr>
          <a:lstStyle/>
          <a:p>
            <a:r>
              <a:rPr lang="fr-CA" sz="2400" noProof="1"/>
              <a:t>Ce qui a été réalisé</a:t>
            </a:r>
          </a:p>
          <a:p>
            <a:pPr lvl="1"/>
            <a:r>
              <a:rPr lang="fr-CA" sz="2000" noProof="1"/>
              <a:t>Une solution complète intégrant un pipeline de collecte et d’intégration de données afin d’améliorer la recherche et collecte d’informations pour des évaluateurs de compagnie d’assurances.</a:t>
            </a:r>
          </a:p>
          <a:p>
            <a:r>
              <a:rPr lang="fr-CA" sz="2400" noProof="1"/>
              <a:t>Améliorations techniques potentielles</a:t>
            </a:r>
          </a:p>
          <a:p>
            <a:pPr lvl="1"/>
            <a:r>
              <a:rPr lang="fr-CA" sz="2000" noProof="1"/>
              <a:t>Intégration additionnelle des rapports d’incidents de police</a:t>
            </a:r>
          </a:p>
          <a:p>
            <a:pPr lvl="1"/>
            <a:r>
              <a:rPr lang="fr-CA" sz="2000" noProof="1"/>
              <a:t>Conversion complète d’une adresse textuelle en coordonnées géospatiales de localisation</a:t>
            </a:r>
          </a:p>
          <a:p>
            <a:pPr lvl="1"/>
            <a:r>
              <a:rPr lang="fr-CA" sz="2000" noProof="1"/>
              <a:t>Orchestration du pipeline de collecte et d’intégration avec l’outil open source de Apache Airflow</a:t>
            </a:r>
          </a:p>
        </p:txBody>
      </p:sp>
    </p:spTree>
    <p:extLst>
      <p:ext uri="{BB962C8B-B14F-4D97-AF65-F5344CB8AC3E}">
        <p14:creationId xmlns:p14="http://schemas.microsoft.com/office/powerpoint/2010/main" val="288591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E0D3-76F0-7586-B8AC-DC4CE314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4A16E3-DC7B-AC00-1161-757F69F39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1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87BD55-7BC4-D08D-6883-293A2763F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noProof="1"/>
              <a:t>Merci pour votre écoute!</a:t>
            </a:r>
          </a:p>
          <a:p>
            <a:endParaRPr lang="fr-CA" noProof="1"/>
          </a:p>
          <a:p>
            <a:r>
              <a:rPr lang="fr-CA" noProof="1"/>
              <a:t>Période de questions</a:t>
            </a:r>
          </a:p>
        </p:txBody>
      </p:sp>
    </p:spTree>
    <p:extLst>
      <p:ext uri="{BB962C8B-B14F-4D97-AF65-F5344CB8AC3E}">
        <p14:creationId xmlns:p14="http://schemas.microsoft.com/office/powerpoint/2010/main" val="38763100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914</Words>
  <Application>Microsoft Office PowerPoint</Application>
  <PresentationFormat>Grand écran</PresentationFormat>
  <Paragraphs>136</Paragraphs>
  <Slides>12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Thème Office</vt:lpstr>
      <vt:lpstr>Solution:  Info-Sinistre-Auto</vt:lpstr>
      <vt:lpstr>Besoin d’affaires</vt:lpstr>
      <vt:lpstr>Implémentation : données</vt:lpstr>
      <vt:lpstr>Architecture de la solution</vt:lpstr>
      <vt:lpstr>Implémentation : Stack technique</vt:lpstr>
      <vt:lpstr>Implémentation : Survol du code</vt:lpstr>
      <vt:lpstr>Résultats obtenus</vt:lpstr>
      <vt:lpstr>Difficultés rencontrées</vt:lpstr>
      <vt:lpstr>Difficultés rencontrées</vt:lpstr>
      <vt:lpstr>Compétences acquises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Desautels, Etienne</dc:creator>
  <cp:lastModifiedBy>Desautels, Etienne</cp:lastModifiedBy>
  <cp:revision>20</cp:revision>
  <dcterms:created xsi:type="dcterms:W3CDTF">2026-09-22T18:49:06Z</dcterms:created>
  <dcterms:modified xsi:type="dcterms:W3CDTF">2026-10-02T17:41:44Z</dcterms:modified>
</cp:coreProperties>
</file>